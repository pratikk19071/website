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d5ff7b6c6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d5ff7b6c6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WHY THE </a:t>
            </a:r>
            <a:r>
              <a:rPr b="1" lang="en"/>
              <a:t>QUESTION</a:t>
            </a:r>
            <a:r>
              <a:rPr b="1" lang="en"/>
              <a:t> MATTERS? </a:t>
            </a:r>
            <a:endParaRPr b="1"/>
          </a:p>
          <a:p>
            <a:pPr indent="-298450" lvl="0" marL="457200" rtl="0" algn="l">
              <a:spcBef>
                <a:spcPts val="0"/>
              </a:spcBef>
              <a:spcAft>
                <a:spcPts val="0"/>
              </a:spcAft>
              <a:buSzPts val="1100"/>
              <a:buChar char="●"/>
            </a:pPr>
            <a:r>
              <a:rPr lang="en"/>
              <a:t>Public safety is a fundamental city service </a:t>
            </a:r>
            <a:endParaRPr/>
          </a:p>
          <a:p>
            <a:pPr indent="-298450" lvl="1" marL="914400" rtl="0" algn="l">
              <a:spcBef>
                <a:spcPts val="0"/>
              </a:spcBef>
              <a:spcAft>
                <a:spcPts val="0"/>
              </a:spcAft>
              <a:buSzPts val="1100"/>
              <a:buChar char="○"/>
            </a:pPr>
            <a:r>
              <a:rPr lang="en"/>
              <a:t> every Detroit resident deserves timely emergency response</a:t>
            </a:r>
            <a:endParaRPr/>
          </a:p>
          <a:p>
            <a:pPr indent="-298450" lvl="0" marL="457200" rtl="0" algn="l">
              <a:spcBef>
                <a:spcPts val="0"/>
              </a:spcBef>
              <a:spcAft>
                <a:spcPts val="0"/>
              </a:spcAft>
              <a:buSzPts val="1100"/>
              <a:buChar char="●"/>
            </a:pPr>
            <a:r>
              <a:rPr lang="en"/>
              <a:t>Response time isn't just a statistic </a:t>
            </a:r>
            <a:endParaRPr/>
          </a:p>
          <a:p>
            <a:pPr indent="-298450" lvl="1" marL="914400" rtl="0" algn="l">
              <a:spcBef>
                <a:spcPts val="0"/>
              </a:spcBef>
              <a:spcAft>
                <a:spcPts val="0"/>
              </a:spcAft>
              <a:buSzPts val="1100"/>
              <a:buChar char="○"/>
            </a:pPr>
            <a:r>
              <a:rPr lang="en"/>
              <a:t>it's the difference between preventing crime escalation and dealing with its aftermath</a:t>
            </a:r>
            <a:endParaRPr/>
          </a:p>
          <a:p>
            <a:pPr indent="-298450" lvl="0" marL="457200" rtl="0" algn="l">
              <a:spcBef>
                <a:spcPts val="0"/>
              </a:spcBef>
              <a:spcAft>
                <a:spcPts val="0"/>
              </a:spcAft>
              <a:buSzPts val="1100"/>
              <a:buChar char="●"/>
            </a:pPr>
            <a:r>
              <a:rPr lang="en"/>
              <a:t>Equity implications: Disparate police service can reinforce neighborhood decline and </a:t>
            </a:r>
            <a:r>
              <a:rPr b="1" lang="en"/>
              <a:t>undermine community trust</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t>REAL-WORLD STAKES: </a:t>
            </a:r>
            <a:endParaRPr b="1"/>
          </a:p>
          <a:p>
            <a:pPr indent="-298450" lvl="0" marL="457200" rtl="0" algn="l">
              <a:spcBef>
                <a:spcPts val="0"/>
              </a:spcBef>
              <a:spcAft>
                <a:spcPts val="0"/>
              </a:spcAft>
              <a:buSzPts val="1100"/>
              <a:buChar char="●"/>
            </a:pPr>
            <a:r>
              <a:rPr lang="en"/>
              <a:t>Crime Escalation → DOMESTIC DISTURBANCE CAN BECOME WORSE CRIMES OR TRAGEDIES	</a:t>
            </a:r>
            <a:endParaRPr/>
          </a:p>
          <a:p>
            <a:pPr indent="-298450" lvl="1" marL="914400" rtl="0" algn="l">
              <a:spcBef>
                <a:spcPts val="0"/>
              </a:spcBef>
              <a:spcAft>
                <a:spcPts val="0"/>
              </a:spcAft>
              <a:buSzPts val="1100"/>
              <a:buChar char="○"/>
            </a:pPr>
            <a:r>
              <a:rPr b="1" lang="en"/>
              <a:t>It is important we are responding in a timely </a:t>
            </a:r>
            <a:r>
              <a:rPr b="1" lang="en"/>
              <a:t>matter</a:t>
            </a:r>
            <a:endParaRPr b="1"/>
          </a:p>
          <a:p>
            <a:pPr indent="-298450" lvl="1" marL="914400" rtl="0" algn="l">
              <a:spcBef>
                <a:spcPts val="0"/>
              </a:spcBef>
              <a:spcAft>
                <a:spcPts val="0"/>
              </a:spcAft>
              <a:buSzPts val="1100"/>
              <a:buChar char="○"/>
            </a:pPr>
            <a:r>
              <a:rPr lang="en"/>
              <a:t>Across ALL of detroit </a:t>
            </a:r>
            <a:r>
              <a:rPr b="1" lang="en"/>
              <a:t> </a:t>
            </a:r>
            <a:endParaRPr b="1"/>
          </a:p>
          <a:p>
            <a:pPr indent="-298450" lvl="0" marL="457200" rtl="0" algn="l">
              <a:spcBef>
                <a:spcPts val="0"/>
              </a:spcBef>
              <a:spcAft>
                <a:spcPts val="0"/>
              </a:spcAft>
              <a:buSzPts val="1100"/>
              <a:buChar char="●"/>
            </a:pPr>
            <a:r>
              <a:rPr lang="en"/>
              <a:t>Delayed police response increases </a:t>
            </a:r>
            <a:r>
              <a:rPr lang="en"/>
              <a:t>likelihood</a:t>
            </a:r>
            <a:r>
              <a:rPr lang="en"/>
              <a:t> of repeat incidents and more serious crimes </a:t>
            </a:r>
            <a:endParaRPr/>
          </a:p>
          <a:p>
            <a:pPr indent="-298450" lvl="0" marL="457200" rtl="0" algn="l">
              <a:spcBef>
                <a:spcPts val="0"/>
              </a:spcBef>
              <a:spcAft>
                <a:spcPts val="0"/>
              </a:spcAft>
              <a:buSzPts val="1100"/>
              <a:buChar char="●"/>
            </a:pPr>
            <a:r>
              <a:rPr lang="en"/>
              <a:t>Community impact → if residents </a:t>
            </a:r>
            <a:r>
              <a:rPr lang="en"/>
              <a:t>can't</a:t>
            </a:r>
            <a:r>
              <a:rPr lang="en"/>
              <a:t> rely on police response, they either </a:t>
            </a:r>
            <a:r>
              <a:rPr lang="en"/>
              <a:t>handle</a:t>
            </a:r>
            <a:r>
              <a:rPr lang="en"/>
              <a:t> situations themselves </a:t>
            </a:r>
            <a:r>
              <a:rPr b="1" lang="en"/>
              <a:t>(risking escalation) or stop calling</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WHO SHOULD CARE?: </a:t>
            </a:r>
            <a:endParaRPr b="1"/>
          </a:p>
          <a:p>
            <a:pPr indent="-298450" lvl="0" marL="457200" rtl="0" algn="l">
              <a:spcBef>
                <a:spcPts val="0"/>
              </a:spcBef>
              <a:spcAft>
                <a:spcPts val="0"/>
              </a:spcAft>
              <a:buSzPts val="1100"/>
              <a:buChar char="●"/>
            </a:pPr>
            <a:r>
              <a:rPr lang="en"/>
              <a:t>Police Chief: </a:t>
            </a:r>
            <a:endParaRPr/>
          </a:p>
          <a:p>
            <a:pPr indent="-298450" lvl="1" marL="914400" rtl="0" algn="l">
              <a:spcBef>
                <a:spcPts val="0"/>
              </a:spcBef>
              <a:spcAft>
                <a:spcPts val="0"/>
              </a:spcAft>
              <a:buSzPts val="1100"/>
              <a:buChar char="○"/>
            </a:pPr>
            <a:r>
              <a:rPr b="1" lang="en"/>
              <a:t>Needs to deploy resources efficiently and maintain public trust across all precincts</a:t>
            </a:r>
            <a:endParaRPr b="1"/>
          </a:p>
          <a:p>
            <a:pPr indent="-298450" lvl="0" marL="457200" rtl="0" algn="l">
              <a:spcBef>
                <a:spcPts val="0"/>
              </a:spcBef>
              <a:spcAft>
                <a:spcPts val="0"/>
              </a:spcAft>
              <a:buSzPts val="1100"/>
              <a:buChar char="●"/>
            </a:pPr>
            <a:r>
              <a:rPr lang="en"/>
              <a:t>Mayor: </a:t>
            </a:r>
            <a:endParaRPr/>
          </a:p>
          <a:p>
            <a:pPr indent="-298450" lvl="1" marL="914400" rtl="0" algn="l">
              <a:spcBef>
                <a:spcPts val="0"/>
              </a:spcBef>
              <a:spcAft>
                <a:spcPts val="0"/>
              </a:spcAft>
              <a:buSzPts val="1100"/>
              <a:buChar char="○"/>
            </a:pPr>
            <a:r>
              <a:rPr lang="en"/>
              <a:t>Responsible for ensuring equitable city services and preventing neighborhood disinvestment</a:t>
            </a:r>
            <a:endParaRPr/>
          </a:p>
          <a:p>
            <a:pPr indent="-298450" lvl="0" marL="457200" rtl="0" algn="l">
              <a:spcBef>
                <a:spcPts val="0"/>
              </a:spcBef>
              <a:spcAft>
                <a:spcPts val="0"/>
              </a:spcAft>
              <a:buSzPts val="1100"/>
              <a:buChar char="●"/>
            </a:pPr>
            <a:r>
              <a:rPr lang="en"/>
              <a:t>Detroit residents: </a:t>
            </a:r>
            <a:endParaRPr/>
          </a:p>
          <a:p>
            <a:pPr indent="-298450" lvl="1" marL="914400" rtl="0" algn="l">
              <a:spcBef>
                <a:spcPts val="0"/>
              </a:spcBef>
              <a:spcAft>
                <a:spcPts val="0"/>
              </a:spcAft>
              <a:buSzPts val="1100"/>
              <a:buChar char="○"/>
            </a:pPr>
            <a:r>
              <a:rPr lang="en"/>
              <a:t>Deserve equal protection regardless of their zip code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d59f18e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7d59f18e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off, just explain that diagrams are showing </a:t>
            </a:r>
            <a:r>
              <a:rPr b="1" lang="en"/>
              <a:t>calls per</a:t>
            </a:r>
            <a:r>
              <a:rPr lang="en"/>
              <a:t> </a:t>
            </a:r>
            <a:r>
              <a:rPr b="1" lang="en"/>
              <a:t>1000 people by zip </a:t>
            </a:r>
            <a:r>
              <a:rPr lang="en"/>
              <a:t>and </a:t>
            </a:r>
            <a:r>
              <a:rPr b="1" lang="en"/>
              <a:t>average police response </a:t>
            </a:r>
            <a:r>
              <a:rPr b="1" lang="en"/>
              <a:t>time</a:t>
            </a:r>
            <a:r>
              <a:rPr b="1" lang="en"/>
              <a:t> by zip</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As you can see in the diagram, the per capita rate of calls to the police office peak in Downtown detroit and generally decrease as you go away from downtown. </a:t>
            </a:r>
            <a:endParaRPr/>
          </a:p>
          <a:p>
            <a:pPr indent="0" lvl="0" marL="0" rtl="0" algn="l">
              <a:spcBef>
                <a:spcPts val="0"/>
              </a:spcBef>
              <a:spcAft>
                <a:spcPts val="0"/>
              </a:spcAft>
              <a:buNone/>
            </a:pPr>
            <a:r>
              <a:rPr lang="en"/>
              <a:t>For average police response time, we notice the opposite trend with response times being the fastest around downtown Detroit and increasing as you go further away from downtown.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Zip code 48240 shows an extremely high response time, despite having very few calls per </a:t>
            </a:r>
            <a:r>
              <a:rPr lang="en"/>
              <a:t>capita</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were surprised by this data because we thought higher demand would lead to slower response.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d5ff7b6c6_5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d5ff7b6c6_5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that this isn’t a great visual to show off, but really helped our group dig deeper into examining the zip codes that were performing the best/worst.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7d59f18e6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7d59f18e6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48201 &amp; 48202 are </a:t>
            </a:r>
            <a:r>
              <a:rPr lang="en"/>
              <a:t>zip codes</a:t>
            </a:r>
            <a:r>
              <a:rPr lang="en"/>
              <a:t> for midtown Detroit, 48226 is Necklace District/ Downtown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d59f18e6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d59f18e6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48240 &amp; 48239 is Redford Michigan, 48236 is Grosse Pointe, Michigan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d59f18e6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d59f18e6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WHAT ARE WE SEEING</a:t>
            </a:r>
            <a:endParaRPr b="1"/>
          </a:p>
          <a:p>
            <a:pPr indent="-298450" lvl="0" marL="457200" rtl="0" algn="l">
              <a:spcBef>
                <a:spcPts val="0"/>
              </a:spcBef>
              <a:spcAft>
                <a:spcPts val="0"/>
              </a:spcAft>
              <a:buSzPts val="1100"/>
              <a:buChar char="●"/>
            </a:pPr>
            <a:r>
              <a:rPr lang="en"/>
              <a:t>We're now diving deeper into our most concerning finding - the resource disparity between neighborhoods</a:t>
            </a:r>
            <a:endParaRPr/>
          </a:p>
          <a:p>
            <a:pPr indent="-298450" lvl="0" marL="457200" rtl="0" algn="l">
              <a:spcBef>
                <a:spcPts val="0"/>
              </a:spcBef>
              <a:spcAft>
                <a:spcPts val="0"/>
              </a:spcAft>
              <a:buSzPts val="1100"/>
              <a:buChar char="●"/>
            </a:pPr>
            <a:r>
              <a:rPr lang="en"/>
              <a:t>These charts compare disturbance call patterns in our highest vs. lowest response time zip codes</a:t>
            </a:r>
            <a:endParaRPr/>
          </a:p>
          <a:p>
            <a:pPr indent="-298450" lvl="1" marL="914400" rtl="0" algn="l">
              <a:spcBef>
                <a:spcPts val="0"/>
              </a:spcBef>
              <a:spcAft>
                <a:spcPts val="0"/>
              </a:spcAft>
              <a:buSzPts val="1100"/>
              <a:buChar char="○"/>
            </a:pPr>
            <a:r>
              <a:rPr lang="en"/>
              <a:t>Keep in mind these axis are the same, illustrating the disparity between the response times in different Detroit zip codes </a:t>
            </a:r>
            <a:endParaRPr/>
          </a:p>
          <a:p>
            <a:pPr indent="-298450" lvl="0" marL="457200" rtl="0" algn="l">
              <a:spcBef>
                <a:spcPts val="0"/>
              </a:spcBef>
              <a:spcAft>
                <a:spcPts val="0"/>
              </a:spcAft>
              <a:buSzPts val="1100"/>
              <a:buChar char="●"/>
            </a:pPr>
            <a:r>
              <a:rPr lang="en"/>
              <a:t>Notice both areas experience similar peak call volumes</a:t>
            </a:r>
            <a:endParaRPr/>
          </a:p>
          <a:p>
            <a:pPr indent="-298450" lvl="1" marL="914400" rtl="0" algn="l">
              <a:spcBef>
                <a:spcPts val="0"/>
              </a:spcBef>
              <a:spcAft>
                <a:spcPts val="0"/>
              </a:spcAft>
              <a:buSzPts val="1100"/>
              <a:buChar char="○"/>
            </a:pPr>
            <a:r>
              <a:rPr lang="en"/>
              <a:t>With our HART </a:t>
            </a:r>
            <a:r>
              <a:rPr lang="en"/>
              <a:t>peeking</a:t>
            </a:r>
            <a:r>
              <a:rPr lang="en"/>
              <a:t> in the early hours of 19</a:t>
            </a:r>
            <a:endParaRPr/>
          </a:p>
          <a:p>
            <a:pPr indent="-298450" lvl="2" marL="1371600" rtl="0" algn="l">
              <a:spcBef>
                <a:spcPts val="0"/>
              </a:spcBef>
              <a:spcAft>
                <a:spcPts val="0"/>
              </a:spcAft>
              <a:buSzPts val="1100"/>
              <a:buChar char="■"/>
            </a:pPr>
            <a:r>
              <a:rPr lang="en"/>
              <a:t>And 22 </a:t>
            </a:r>
            <a:r>
              <a:rPr lang="en"/>
              <a:t>around</a:t>
            </a:r>
            <a:r>
              <a:rPr lang="en"/>
              <a:t> 2 pm </a:t>
            </a:r>
            <a:endParaRPr/>
          </a:p>
          <a:p>
            <a:pPr indent="-298450" lvl="2" marL="1371600" rtl="0" algn="l">
              <a:spcBef>
                <a:spcPts val="0"/>
              </a:spcBef>
              <a:spcAft>
                <a:spcPts val="0"/>
              </a:spcAft>
              <a:buSzPts val="1100"/>
              <a:buChar char="■"/>
            </a:pPr>
            <a:r>
              <a:rPr lang="en"/>
              <a:t>And 21 around 10 pm </a:t>
            </a:r>
            <a:endParaRPr/>
          </a:p>
          <a:p>
            <a:pPr indent="-298450" lvl="1" marL="914400" rtl="0" algn="l">
              <a:spcBef>
                <a:spcPts val="0"/>
              </a:spcBef>
              <a:spcAft>
                <a:spcPts val="0"/>
              </a:spcAft>
              <a:buSzPts val="1100"/>
              <a:buChar char="○"/>
            </a:pPr>
            <a:r>
              <a:rPr lang="en"/>
              <a:t>LART follow some similar patterns with the peak </a:t>
            </a:r>
            <a:r>
              <a:rPr lang="en"/>
              <a:t>disturbance</a:t>
            </a:r>
            <a:r>
              <a:rPr lang="en"/>
              <a:t> volumes at 24 in the early morning hours </a:t>
            </a:r>
            <a:endParaRPr/>
          </a:p>
          <a:p>
            <a:pPr indent="0" lvl="0" marL="0" rtl="0" algn="l">
              <a:lnSpc>
                <a:spcPct val="115000"/>
              </a:lnSpc>
              <a:spcBef>
                <a:spcPts val="1200"/>
              </a:spcBef>
              <a:spcAft>
                <a:spcPts val="0"/>
              </a:spcAft>
              <a:buNone/>
            </a:pPr>
            <a:r>
              <a:rPr b="1" lang="en">
                <a:solidFill>
                  <a:schemeClr val="dk1"/>
                </a:solidFill>
              </a:rPr>
              <a:t>ANALYSIS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Early Morning Crisis (2-4 AM):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7x response time difference</a:t>
            </a:r>
            <a:r>
              <a:rPr lang="en">
                <a:solidFill>
                  <a:schemeClr val="dk1"/>
                </a:solidFill>
              </a:rPr>
              <a:t> during overnight hours (169 min vs. 23 min)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Most dangerous timing:</a:t>
            </a:r>
            <a:r>
              <a:rPr lang="en">
                <a:solidFill>
                  <a:schemeClr val="dk1"/>
                </a:solidFill>
              </a:rPr>
              <a:t> Early morning disturbances often involve domestic violence, intoxication, mental health crises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This Crisis Matters/Relating back to our problem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Disturbances are Detroit's highest-volume call type</a:t>
            </a:r>
            <a:r>
              <a:rPr lang="en">
                <a:solidFill>
                  <a:schemeClr val="dk1"/>
                </a:solidFill>
              </a:rPr>
              <a:t> - affects the most residents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3-hour delays allow escalation</a:t>
            </a:r>
            <a:r>
              <a:rPr lang="en">
                <a:solidFill>
                  <a:schemeClr val="dk1"/>
                </a:solidFill>
              </a:rPr>
              <a:t> from disturbances to serious crimes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Compounding disadvantage:</a:t>
            </a:r>
            <a:r>
              <a:rPr lang="en">
                <a:solidFill>
                  <a:schemeClr val="dk1"/>
                </a:solidFill>
              </a:rPr>
              <a:t> Detroit's most underserved neighborhoods face worst service during most vulnerable hours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Public trust breakdown:</a:t>
            </a:r>
            <a:r>
              <a:rPr lang="en">
                <a:solidFill>
                  <a:schemeClr val="dk1"/>
                </a:solidFill>
              </a:rPr>
              <a:t> Residents learn not to call because help won't arrive in time</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d59f18e6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d59f18e6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d59f18e6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d59f18e6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595959"/>
                </a:solidFill>
              </a:rPr>
              <a:t>DECREASEING average response time for the types of calls that come in the most will make an impact </a:t>
            </a:r>
            <a:endParaRPr sz="18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7d59f18e6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7d59f18e6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saw in the analysis, not all neighborhoods are receiving the same level of protection when it comes to police response times. Even when the type of call and its priority are the same, some zip codes experience significantly slower responses.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t>
            </a:r>
            <a:r>
              <a:rPr lang="en"/>
              <a:t>recommend</a:t>
            </a:r>
            <a:r>
              <a:rPr lang="en"/>
              <a:t> 3 main actions: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d5ff7b6c6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d5ff7b6c6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Steps: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Analyze overnight staffing deployment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Examine if early morning response failures predict crime escalation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Compare this pattern across other high-volume call types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d5ff7b6c6_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7d5ff7b6c6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d5ff7b6c6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7d5ff7b6c6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d8843b8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7d8843b8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gif"/><Relationship Id="rId4" Type="http://schemas.openxmlformats.org/officeDocument/2006/relationships/image" Target="../media/image6.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625700"/>
            <a:ext cx="8520600" cy="1625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alibri"/>
                <a:ea typeface="Calibri"/>
                <a:cs typeface="Calibri"/>
                <a:sym typeface="Calibri"/>
              </a:rPr>
              <a:t>Does Detroit Police deliver Equal Protection to All Neighborhoods</a:t>
            </a:r>
            <a:r>
              <a:rPr lang="en">
                <a:latin typeface="Calibri"/>
                <a:ea typeface="Calibri"/>
                <a:cs typeface="Calibri"/>
                <a:sym typeface="Calibri"/>
              </a:rPr>
              <a:t>?</a:t>
            </a:r>
            <a:endParaRPr>
              <a:latin typeface="Calibri"/>
              <a:ea typeface="Calibri"/>
              <a:cs typeface="Calibri"/>
              <a:sym typeface="Calibri"/>
            </a:endParaRPr>
          </a:p>
        </p:txBody>
      </p:sp>
      <p:sp>
        <p:nvSpPr>
          <p:cNvPr id="55" name="Google Shape;55;p13"/>
          <p:cNvSpPr txBox="1"/>
          <p:nvPr>
            <p:ph idx="1" type="subTitle"/>
          </p:nvPr>
        </p:nvSpPr>
        <p:spPr>
          <a:xfrm>
            <a:off x="311700" y="3288300"/>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a:latin typeface="Calibri"/>
                <a:ea typeface="Calibri"/>
                <a:cs typeface="Calibri"/>
                <a:sym typeface="Calibri"/>
              </a:rPr>
              <a:t>Anneliese Ferguson, Pratik Kothari, Jake Yablok, Tahira Khan </a:t>
            </a:r>
            <a:endParaRPr>
              <a:latin typeface="Calibri"/>
              <a:ea typeface="Calibri"/>
              <a:cs typeface="Calibri"/>
              <a:sym typeface="Calibri"/>
            </a:endParaRPr>
          </a:p>
        </p:txBody>
      </p:sp>
      <p:pic>
        <p:nvPicPr>
          <p:cNvPr id="56" name="Google Shape;56;p13"/>
          <p:cNvPicPr preferRelativeResize="0"/>
          <p:nvPr/>
        </p:nvPicPr>
        <p:blipFill>
          <a:blip r:embed="rId3">
            <a:alphaModFix/>
          </a:blip>
          <a:stretch>
            <a:fillRect/>
          </a:stretch>
        </p:blipFill>
        <p:spPr>
          <a:xfrm>
            <a:off x="-2" y="0"/>
            <a:ext cx="1416203" cy="1625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45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alibri"/>
                <a:ea typeface="Calibri"/>
                <a:cs typeface="Calibri"/>
                <a:sym typeface="Calibri"/>
              </a:rPr>
              <a:t>Are Detroit's police resources equitably distributed across the city, and what are the consequences when they're not?</a:t>
            </a:r>
            <a:endParaRPr>
              <a:latin typeface="Calibri"/>
              <a:ea typeface="Calibri"/>
              <a:cs typeface="Calibri"/>
              <a:sym typeface="Calibri"/>
            </a:endParaRPr>
          </a:p>
        </p:txBody>
      </p:sp>
      <p:sp>
        <p:nvSpPr>
          <p:cNvPr id="62" name="Google Shape;62;p14"/>
          <p:cNvSpPr txBox="1"/>
          <p:nvPr>
            <p:ph idx="1" type="body"/>
          </p:nvPr>
        </p:nvSpPr>
        <p:spPr>
          <a:xfrm>
            <a:off x="311700" y="1163700"/>
            <a:ext cx="3845700" cy="378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Calibri"/>
                <a:ea typeface="Calibri"/>
                <a:cs typeface="Calibri"/>
                <a:sym typeface="Calibri"/>
              </a:rPr>
              <a:t>Why It Matters? </a:t>
            </a:r>
            <a:endParaRPr b="1">
              <a:latin typeface="Calibri"/>
              <a:ea typeface="Calibri"/>
              <a:cs typeface="Calibri"/>
              <a:sym typeface="Calibri"/>
            </a:endParaRPr>
          </a:p>
          <a:p>
            <a:pPr indent="-342900" lvl="0" marL="457200" rtl="0" algn="l">
              <a:spcBef>
                <a:spcPts val="1200"/>
              </a:spcBef>
              <a:spcAft>
                <a:spcPts val="0"/>
              </a:spcAft>
              <a:buSzPts val="1800"/>
              <a:buFont typeface="Calibri"/>
              <a:buChar char="●"/>
            </a:pPr>
            <a:r>
              <a:rPr b="1" lang="en">
                <a:latin typeface="Calibri"/>
                <a:ea typeface="Calibri"/>
                <a:cs typeface="Calibri"/>
                <a:sym typeface="Calibri"/>
              </a:rPr>
              <a:t>Response time = Prevention vs. Aftermath</a:t>
            </a:r>
            <a:r>
              <a:rPr lang="en">
                <a:latin typeface="Calibri"/>
                <a:ea typeface="Calibri"/>
                <a:cs typeface="Calibri"/>
                <a:sym typeface="Calibri"/>
              </a:rPr>
              <a:t> </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Delayed response time increases crime escalation risk</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Equal protection is a fundamental city service</a:t>
            </a:r>
            <a:endParaRPr b="1">
              <a:latin typeface="Calibri"/>
              <a:ea typeface="Calibri"/>
              <a:cs typeface="Calibri"/>
              <a:sym typeface="Calibri"/>
            </a:endParaRPr>
          </a:p>
          <a:p>
            <a:pPr indent="0" lvl="0" marL="0" rtl="0" algn="l">
              <a:spcBef>
                <a:spcPts val="1200"/>
              </a:spcBef>
              <a:spcAft>
                <a:spcPts val="1200"/>
              </a:spcAft>
              <a:buNone/>
            </a:pPr>
            <a:r>
              <a:t/>
            </a:r>
            <a:endParaRPr>
              <a:latin typeface="Calibri"/>
              <a:ea typeface="Calibri"/>
              <a:cs typeface="Calibri"/>
              <a:sym typeface="Calibri"/>
            </a:endParaRPr>
          </a:p>
        </p:txBody>
      </p:sp>
      <p:sp>
        <p:nvSpPr>
          <p:cNvPr id="63" name="Google Shape;63;p14"/>
          <p:cNvSpPr txBox="1"/>
          <p:nvPr>
            <p:ph idx="1" type="body"/>
          </p:nvPr>
        </p:nvSpPr>
        <p:spPr>
          <a:xfrm>
            <a:off x="4986600" y="1163700"/>
            <a:ext cx="3845700" cy="378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Calibri"/>
                <a:ea typeface="Calibri"/>
                <a:cs typeface="Calibri"/>
                <a:sym typeface="Calibri"/>
              </a:rPr>
              <a:t>Who should care? </a:t>
            </a:r>
            <a:endParaRPr b="1">
              <a:latin typeface="Calibri"/>
              <a:ea typeface="Calibri"/>
              <a:cs typeface="Calibri"/>
              <a:sym typeface="Calibri"/>
            </a:endParaRPr>
          </a:p>
          <a:p>
            <a:pPr indent="-342900" lvl="0" marL="457200" rtl="0" algn="l">
              <a:spcBef>
                <a:spcPts val="1200"/>
              </a:spcBef>
              <a:spcAft>
                <a:spcPts val="0"/>
              </a:spcAft>
              <a:buSzPts val="1800"/>
              <a:buFont typeface="Calibri"/>
              <a:buChar char="●"/>
            </a:pPr>
            <a:r>
              <a:rPr lang="en">
                <a:latin typeface="Calibri"/>
                <a:ea typeface="Calibri"/>
                <a:cs typeface="Calibri"/>
                <a:sym typeface="Calibri"/>
              </a:rPr>
              <a:t>Police Chief</a:t>
            </a:r>
            <a:endParaRPr>
              <a:latin typeface="Calibri"/>
              <a:ea typeface="Calibri"/>
              <a:cs typeface="Calibri"/>
              <a:sym typeface="Calibri"/>
            </a:endParaRPr>
          </a:p>
          <a:p>
            <a:pPr indent="-323850" lvl="1" marL="914400" rtl="0" algn="l">
              <a:spcBef>
                <a:spcPts val="0"/>
              </a:spcBef>
              <a:spcAft>
                <a:spcPts val="0"/>
              </a:spcAft>
              <a:buSzPts val="1500"/>
              <a:buFont typeface="Calibri"/>
              <a:buChar char="○"/>
            </a:pPr>
            <a:r>
              <a:rPr lang="en" sz="1500">
                <a:latin typeface="Calibri"/>
                <a:ea typeface="Calibri"/>
                <a:cs typeface="Calibri"/>
                <a:sym typeface="Calibri"/>
              </a:rPr>
              <a:t>Resource deployment</a:t>
            </a:r>
            <a:endParaRPr sz="1500">
              <a:latin typeface="Calibri"/>
              <a:ea typeface="Calibri"/>
              <a:cs typeface="Calibri"/>
              <a:sym typeface="Calibri"/>
            </a:endParaRPr>
          </a:p>
          <a:p>
            <a:pPr indent="-323850" lvl="1" marL="914400" rtl="0" algn="l">
              <a:spcBef>
                <a:spcPts val="0"/>
              </a:spcBef>
              <a:spcAft>
                <a:spcPts val="0"/>
              </a:spcAft>
              <a:buSzPts val="1500"/>
              <a:buFont typeface="Calibri"/>
              <a:buChar char="○"/>
            </a:pPr>
            <a:r>
              <a:rPr lang="en" sz="1500">
                <a:latin typeface="Calibri"/>
                <a:ea typeface="Calibri"/>
                <a:cs typeface="Calibri"/>
                <a:sym typeface="Calibri"/>
              </a:rPr>
              <a:t>Public trust</a:t>
            </a:r>
            <a:endParaRPr sz="15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Mayor </a:t>
            </a:r>
            <a:endParaRPr>
              <a:latin typeface="Calibri"/>
              <a:ea typeface="Calibri"/>
              <a:cs typeface="Calibri"/>
              <a:sym typeface="Calibri"/>
            </a:endParaRPr>
          </a:p>
          <a:p>
            <a:pPr indent="-323850" lvl="1" marL="914400" rtl="0" algn="l">
              <a:spcBef>
                <a:spcPts val="0"/>
              </a:spcBef>
              <a:spcAft>
                <a:spcPts val="0"/>
              </a:spcAft>
              <a:buSzPts val="1500"/>
              <a:buFont typeface="Calibri"/>
              <a:buChar char="○"/>
            </a:pPr>
            <a:r>
              <a:rPr lang="en" sz="1500">
                <a:latin typeface="Calibri"/>
                <a:ea typeface="Calibri"/>
                <a:cs typeface="Calibri"/>
                <a:sym typeface="Calibri"/>
              </a:rPr>
              <a:t>City Services </a:t>
            </a:r>
            <a:endParaRPr sz="1500">
              <a:latin typeface="Calibri"/>
              <a:ea typeface="Calibri"/>
              <a:cs typeface="Calibri"/>
              <a:sym typeface="Calibri"/>
            </a:endParaRPr>
          </a:p>
          <a:p>
            <a:pPr indent="-323850" lvl="2" marL="1371600" rtl="0" algn="l">
              <a:spcBef>
                <a:spcPts val="0"/>
              </a:spcBef>
              <a:spcAft>
                <a:spcPts val="0"/>
              </a:spcAft>
              <a:buSzPts val="1500"/>
              <a:buFont typeface="Calibri"/>
              <a:buChar char="■"/>
            </a:pPr>
            <a:r>
              <a:rPr lang="en" sz="1500">
                <a:latin typeface="Calibri"/>
                <a:ea typeface="Calibri"/>
                <a:cs typeface="Calibri"/>
                <a:sym typeface="Calibri"/>
              </a:rPr>
              <a:t>Equitable </a:t>
            </a:r>
            <a:endParaRPr sz="1500">
              <a:latin typeface="Calibri"/>
              <a:ea typeface="Calibri"/>
              <a:cs typeface="Calibri"/>
              <a:sym typeface="Calibri"/>
            </a:endParaRPr>
          </a:p>
          <a:p>
            <a:pPr indent="-323850" lvl="2" marL="1371600" rtl="0" algn="l">
              <a:spcBef>
                <a:spcPts val="0"/>
              </a:spcBef>
              <a:spcAft>
                <a:spcPts val="0"/>
              </a:spcAft>
              <a:buSzPts val="1500"/>
              <a:buFont typeface="Calibri"/>
              <a:buChar char="■"/>
            </a:pPr>
            <a:r>
              <a:rPr lang="en" sz="1500">
                <a:latin typeface="Calibri"/>
                <a:ea typeface="Calibri"/>
                <a:cs typeface="Calibri"/>
                <a:sym typeface="Calibri"/>
              </a:rPr>
              <a:t>Reliable</a:t>
            </a:r>
            <a:endParaRPr sz="1500">
              <a:latin typeface="Calibri"/>
              <a:ea typeface="Calibri"/>
              <a:cs typeface="Calibri"/>
              <a:sym typeface="Calibri"/>
            </a:endParaRPr>
          </a:p>
          <a:p>
            <a:pPr indent="-323850" lvl="1" marL="914400" rtl="0" algn="l">
              <a:spcBef>
                <a:spcPts val="0"/>
              </a:spcBef>
              <a:spcAft>
                <a:spcPts val="0"/>
              </a:spcAft>
              <a:buSzPts val="1500"/>
              <a:buFont typeface="Calibri"/>
              <a:buChar char="○"/>
            </a:pPr>
            <a:r>
              <a:rPr lang="en" sz="1500">
                <a:latin typeface="Calibri"/>
                <a:ea typeface="Calibri"/>
                <a:cs typeface="Calibri"/>
                <a:sym typeface="Calibri"/>
              </a:rPr>
              <a:t>Constituent r</a:t>
            </a:r>
            <a:r>
              <a:rPr lang="en" sz="1500">
                <a:latin typeface="Calibri"/>
                <a:ea typeface="Calibri"/>
                <a:cs typeface="Calibri"/>
                <a:sym typeface="Calibri"/>
              </a:rPr>
              <a:t>esponsibility</a:t>
            </a:r>
            <a:r>
              <a:rPr lang="en" sz="1500">
                <a:latin typeface="Calibri"/>
                <a:ea typeface="Calibri"/>
                <a:cs typeface="Calibri"/>
                <a:sym typeface="Calibri"/>
              </a:rPr>
              <a:t> </a:t>
            </a:r>
            <a:endParaRPr sz="15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Residents Themselves! </a:t>
            </a:r>
            <a:endParaRPr>
              <a:latin typeface="Calibri"/>
              <a:ea typeface="Calibri"/>
              <a:cs typeface="Calibri"/>
              <a:sym typeface="Calibri"/>
            </a:endParaRPr>
          </a:p>
          <a:p>
            <a:pPr indent="-323850" lvl="1" marL="914400" rtl="0" algn="l">
              <a:spcBef>
                <a:spcPts val="0"/>
              </a:spcBef>
              <a:spcAft>
                <a:spcPts val="0"/>
              </a:spcAft>
              <a:buSzPts val="1500"/>
              <a:buFont typeface="Calibri"/>
              <a:buChar char="○"/>
            </a:pPr>
            <a:r>
              <a:rPr lang="en" sz="1500">
                <a:latin typeface="Calibri"/>
                <a:ea typeface="Calibri"/>
                <a:cs typeface="Calibri"/>
                <a:sym typeface="Calibri"/>
              </a:rPr>
              <a:t>Equal protection</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143075" y="212925"/>
            <a:ext cx="8293200" cy="5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Calibri"/>
                <a:ea typeface="Calibri"/>
                <a:cs typeface="Calibri"/>
                <a:sym typeface="Calibri"/>
              </a:rPr>
              <a:t>Calls per 1000 people and Average Response Times (ART) by Zip Code</a:t>
            </a:r>
            <a:endParaRPr sz="2100">
              <a:solidFill>
                <a:schemeClr val="dk1"/>
              </a:solidFill>
              <a:latin typeface="Calibri"/>
              <a:ea typeface="Calibri"/>
              <a:cs typeface="Calibri"/>
              <a:sym typeface="Calibri"/>
            </a:endParaRPr>
          </a:p>
        </p:txBody>
      </p:sp>
      <p:pic>
        <p:nvPicPr>
          <p:cNvPr id="69" name="Google Shape;69;p15" title="Presentation Dash.png"/>
          <p:cNvPicPr preferRelativeResize="0"/>
          <p:nvPr/>
        </p:nvPicPr>
        <p:blipFill>
          <a:blip r:embed="rId3">
            <a:alphaModFix/>
          </a:blip>
          <a:stretch>
            <a:fillRect/>
          </a:stretch>
        </p:blipFill>
        <p:spPr>
          <a:xfrm>
            <a:off x="200850" y="649250"/>
            <a:ext cx="5448000" cy="4358400"/>
          </a:xfrm>
          <a:prstGeom prst="rect">
            <a:avLst/>
          </a:prstGeom>
          <a:noFill/>
          <a:ln>
            <a:noFill/>
          </a:ln>
        </p:spPr>
      </p:pic>
      <p:sp>
        <p:nvSpPr>
          <p:cNvPr id="70" name="Google Shape;70;p15"/>
          <p:cNvSpPr txBox="1"/>
          <p:nvPr/>
        </p:nvSpPr>
        <p:spPr>
          <a:xfrm>
            <a:off x="5877300" y="3887425"/>
            <a:ext cx="2983500" cy="95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Calibri"/>
                <a:ea typeface="Calibri"/>
                <a:cs typeface="Calibri"/>
                <a:sym typeface="Calibri"/>
              </a:rPr>
              <a:t>* </a:t>
            </a:r>
            <a:r>
              <a:rPr lang="en">
                <a:solidFill>
                  <a:schemeClr val="dk2"/>
                </a:solidFill>
                <a:latin typeface="Calibri"/>
                <a:ea typeface="Calibri"/>
                <a:cs typeface="Calibri"/>
                <a:sym typeface="Calibri"/>
              </a:rPr>
              <a:t>Filtered Data to </a:t>
            </a:r>
            <a:r>
              <a:rPr lang="en">
                <a:solidFill>
                  <a:schemeClr val="dk2"/>
                </a:solidFill>
                <a:latin typeface="Calibri"/>
                <a:ea typeface="Calibri"/>
                <a:cs typeface="Calibri"/>
                <a:sym typeface="Calibri"/>
              </a:rPr>
              <a:t>only</a:t>
            </a:r>
            <a:r>
              <a:rPr lang="en">
                <a:solidFill>
                  <a:schemeClr val="dk2"/>
                </a:solidFill>
                <a:latin typeface="Calibri"/>
                <a:ea typeface="Calibri"/>
                <a:cs typeface="Calibri"/>
                <a:sym typeface="Calibri"/>
              </a:rPr>
              <a:t> include Detroit Zip Codes and calls that are NOT initiated by officers</a:t>
            </a:r>
            <a:endParaRPr>
              <a:solidFill>
                <a:schemeClr val="dk2"/>
              </a:solidFill>
              <a:latin typeface="Calibri"/>
              <a:ea typeface="Calibri"/>
              <a:cs typeface="Calibri"/>
              <a:sym typeface="Calibri"/>
            </a:endParaRPr>
          </a:p>
        </p:txBody>
      </p:sp>
      <p:sp>
        <p:nvSpPr>
          <p:cNvPr id="71" name="Google Shape;71;p15"/>
          <p:cNvSpPr txBox="1"/>
          <p:nvPr/>
        </p:nvSpPr>
        <p:spPr>
          <a:xfrm>
            <a:off x="5801100" y="969175"/>
            <a:ext cx="3220800" cy="1703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Highest calling zip codes </a:t>
            </a:r>
            <a:r>
              <a:rPr lang="en" sz="1800">
                <a:solidFill>
                  <a:schemeClr val="dk2"/>
                </a:solidFill>
                <a:latin typeface="Calibri"/>
                <a:ea typeface="Calibri"/>
                <a:cs typeface="Calibri"/>
                <a:sym typeface="Calibri"/>
              </a:rPr>
              <a:t>per-capita</a:t>
            </a:r>
            <a:r>
              <a:rPr lang="en" sz="1800">
                <a:solidFill>
                  <a:schemeClr val="dk2"/>
                </a:solidFill>
                <a:latin typeface="Calibri"/>
                <a:ea typeface="Calibri"/>
                <a:cs typeface="Calibri"/>
                <a:sym typeface="Calibri"/>
              </a:rPr>
              <a:t> have the fastest police response times</a:t>
            </a:r>
            <a:endParaRPr sz="1800">
              <a:solidFill>
                <a:schemeClr val="dk2"/>
              </a:solidFill>
              <a:latin typeface="Calibri"/>
              <a:ea typeface="Calibri"/>
              <a:cs typeface="Calibri"/>
              <a:sym typeface="Calibri"/>
            </a:endParaRPr>
          </a:p>
        </p:txBody>
      </p:sp>
      <p:cxnSp>
        <p:nvCxnSpPr>
          <p:cNvPr id="72" name="Google Shape;72;p15"/>
          <p:cNvCxnSpPr/>
          <p:nvPr/>
        </p:nvCxnSpPr>
        <p:spPr>
          <a:xfrm flipH="1" rot="10800000">
            <a:off x="1035725" y="3467850"/>
            <a:ext cx="952500" cy="157200"/>
          </a:xfrm>
          <a:prstGeom prst="straightConnector1">
            <a:avLst/>
          </a:prstGeom>
          <a:noFill/>
          <a:ln cap="flat" cmpd="sng" w="38100">
            <a:solidFill>
              <a:schemeClr val="dk2"/>
            </a:solidFill>
            <a:prstDash val="solid"/>
            <a:round/>
            <a:headEnd len="med" w="med" type="none"/>
            <a:tailEnd len="med" w="med" type="triangle"/>
          </a:ln>
        </p:spPr>
      </p:cxnSp>
      <p:sp>
        <p:nvSpPr>
          <p:cNvPr id="73" name="Google Shape;73;p15"/>
          <p:cNvSpPr txBox="1"/>
          <p:nvPr/>
        </p:nvSpPr>
        <p:spPr>
          <a:xfrm>
            <a:off x="545600" y="3403050"/>
            <a:ext cx="813900" cy="2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Zip code 48240</a:t>
            </a:r>
            <a:endParaRPr sz="13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6" title="Response Times by Zip Bar.png"/>
          <p:cNvPicPr preferRelativeResize="0"/>
          <p:nvPr/>
        </p:nvPicPr>
        <p:blipFill>
          <a:blip r:embed="rId3">
            <a:alphaModFix/>
          </a:blip>
          <a:stretch>
            <a:fillRect/>
          </a:stretch>
        </p:blipFill>
        <p:spPr>
          <a:xfrm>
            <a:off x="893966" y="0"/>
            <a:ext cx="7356068"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85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alibri"/>
                <a:ea typeface="Calibri"/>
                <a:cs typeface="Calibri"/>
                <a:sym typeface="Calibri"/>
              </a:rPr>
              <a:t>Top 3 </a:t>
            </a:r>
            <a:r>
              <a:rPr lang="en">
                <a:latin typeface="Calibri"/>
                <a:ea typeface="Calibri"/>
                <a:cs typeface="Calibri"/>
                <a:sym typeface="Calibri"/>
              </a:rPr>
              <a:t>calls in areas where ART is lowest</a:t>
            </a:r>
            <a:endParaRPr>
              <a:latin typeface="Calibri"/>
              <a:ea typeface="Calibri"/>
              <a:cs typeface="Calibri"/>
              <a:sym typeface="Calibri"/>
            </a:endParaRPr>
          </a:p>
        </p:txBody>
      </p:sp>
      <p:sp>
        <p:nvSpPr>
          <p:cNvPr id="84" name="Google Shape;84;p17"/>
          <p:cNvSpPr txBox="1"/>
          <p:nvPr>
            <p:ph idx="1" type="body"/>
          </p:nvPr>
        </p:nvSpPr>
        <p:spPr>
          <a:xfrm>
            <a:off x="255675" y="3275300"/>
            <a:ext cx="8520600" cy="1686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alibri"/>
              <a:buChar char="●"/>
            </a:pPr>
            <a:r>
              <a:rPr lang="en">
                <a:latin typeface="Calibri"/>
                <a:ea typeface="Calibri"/>
                <a:cs typeface="Calibri"/>
                <a:sym typeface="Calibri"/>
              </a:rPr>
              <a:t>Table displays the top 3 call descriptions and their priority for the 3 </a:t>
            </a:r>
            <a:r>
              <a:rPr lang="en">
                <a:latin typeface="Calibri"/>
                <a:ea typeface="Calibri"/>
                <a:cs typeface="Calibri"/>
                <a:sym typeface="Calibri"/>
              </a:rPr>
              <a:t>zip codes (48201,48202,48226)</a:t>
            </a:r>
            <a:r>
              <a:rPr lang="en">
                <a:latin typeface="Calibri"/>
                <a:ea typeface="Calibri"/>
                <a:cs typeface="Calibri"/>
                <a:sym typeface="Calibri"/>
              </a:rPr>
              <a:t> with the lowest average response times</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Disturbance is the largest component and majority of disturbance calls have a priority of 3  </a:t>
            </a:r>
            <a:endParaRPr>
              <a:latin typeface="Calibri"/>
              <a:ea typeface="Calibri"/>
              <a:cs typeface="Calibri"/>
              <a:sym typeface="Calibri"/>
            </a:endParaRPr>
          </a:p>
          <a:p>
            <a:pPr indent="0" lvl="0" marL="0" rtl="0" algn="l">
              <a:spcBef>
                <a:spcPts val="1200"/>
              </a:spcBef>
              <a:spcAft>
                <a:spcPts val="1200"/>
              </a:spcAft>
              <a:buNone/>
            </a:pPr>
            <a:r>
              <a:t/>
            </a:r>
            <a:endParaRPr>
              <a:latin typeface="Calibri"/>
              <a:ea typeface="Calibri"/>
              <a:cs typeface="Calibri"/>
              <a:sym typeface="Calibri"/>
            </a:endParaRPr>
          </a:p>
        </p:txBody>
      </p:sp>
      <p:pic>
        <p:nvPicPr>
          <p:cNvPr id="85" name="Google Shape;85;p17" title="Screenshot 2025-09-09 at 11.52.01 PM.png"/>
          <p:cNvPicPr preferRelativeResize="0"/>
          <p:nvPr/>
        </p:nvPicPr>
        <p:blipFill>
          <a:blip r:embed="rId3">
            <a:alphaModFix/>
          </a:blip>
          <a:stretch>
            <a:fillRect/>
          </a:stretch>
        </p:blipFill>
        <p:spPr>
          <a:xfrm>
            <a:off x="853375" y="716875"/>
            <a:ext cx="4971474" cy="2303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212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Calibri"/>
                <a:ea typeface="Calibri"/>
                <a:cs typeface="Calibri"/>
                <a:sym typeface="Calibri"/>
              </a:rPr>
              <a:t>Top 3 calls in areas where ART is highest</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91" name="Google Shape;91;p18"/>
          <p:cNvSpPr txBox="1"/>
          <p:nvPr>
            <p:ph idx="1" type="body"/>
          </p:nvPr>
        </p:nvSpPr>
        <p:spPr>
          <a:xfrm>
            <a:off x="606075" y="2954625"/>
            <a:ext cx="8056200" cy="1521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Calibri"/>
              <a:buChar char="●"/>
            </a:pPr>
            <a:r>
              <a:rPr lang="en" sz="1600">
                <a:latin typeface="Calibri"/>
                <a:ea typeface="Calibri"/>
                <a:cs typeface="Calibri"/>
                <a:sym typeface="Calibri"/>
              </a:rPr>
              <a:t>Disturbance is the most called for complaint in the 3 zip codes (48240,48239,48236) with the highest average response time. </a:t>
            </a:r>
            <a:r>
              <a:rPr lang="en" sz="1600">
                <a:latin typeface="Calibri"/>
                <a:ea typeface="Calibri"/>
                <a:cs typeface="Calibri"/>
                <a:sym typeface="Calibri"/>
              </a:rPr>
              <a:t>Priority number is also the same</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 sz="1600">
                <a:latin typeface="Calibri"/>
                <a:ea typeface="Calibri"/>
                <a:cs typeface="Calibri"/>
                <a:sym typeface="Calibri"/>
              </a:rPr>
              <a:t>It is worth noting that the number of calls for Disturbance is significantly more in the zip codes where the average response time is lower, systematic misallocation of resources despite call volume</a:t>
            </a:r>
            <a:endParaRPr sz="1600">
              <a:latin typeface="Calibri"/>
              <a:ea typeface="Calibri"/>
              <a:cs typeface="Calibri"/>
              <a:sym typeface="Calibri"/>
            </a:endParaRPr>
          </a:p>
          <a:p>
            <a:pPr indent="-330200" lvl="0" marL="457200" rtl="0" algn="l">
              <a:spcBef>
                <a:spcPts val="0"/>
              </a:spcBef>
              <a:spcAft>
                <a:spcPts val="0"/>
              </a:spcAft>
              <a:buSzPts val="1600"/>
              <a:buFont typeface="Calibri"/>
              <a:buChar char="●"/>
            </a:pPr>
            <a:r>
              <a:rPr lang="en" sz="1600">
                <a:latin typeface="Calibri"/>
                <a:ea typeface="Calibri"/>
                <a:cs typeface="Calibri"/>
                <a:sym typeface="Calibri"/>
              </a:rPr>
              <a:t>Why is it taking the police so long for these zip codes despite same call type and </a:t>
            </a:r>
            <a:r>
              <a:rPr lang="en" sz="1600">
                <a:latin typeface="Calibri"/>
                <a:ea typeface="Calibri"/>
                <a:cs typeface="Calibri"/>
                <a:sym typeface="Calibri"/>
              </a:rPr>
              <a:t>priority</a:t>
            </a:r>
            <a:r>
              <a:rPr lang="en" sz="1600">
                <a:latin typeface="Calibri"/>
                <a:ea typeface="Calibri"/>
                <a:cs typeface="Calibri"/>
                <a:sym typeface="Calibri"/>
              </a:rPr>
              <a:t> type? </a:t>
            </a:r>
            <a:endParaRPr sz="1600">
              <a:latin typeface="Calibri"/>
              <a:ea typeface="Calibri"/>
              <a:cs typeface="Calibri"/>
              <a:sym typeface="Calibri"/>
            </a:endParaRPr>
          </a:p>
        </p:txBody>
      </p:sp>
      <p:pic>
        <p:nvPicPr>
          <p:cNvPr id="92" name="Google Shape;92;p18" title="Screenshot 2025-09-10 at 12.04.31 AM.png"/>
          <p:cNvPicPr preferRelativeResize="0"/>
          <p:nvPr/>
        </p:nvPicPr>
        <p:blipFill>
          <a:blip r:embed="rId3">
            <a:alphaModFix/>
          </a:blip>
          <a:stretch>
            <a:fillRect/>
          </a:stretch>
        </p:blipFill>
        <p:spPr>
          <a:xfrm>
            <a:off x="532500" y="784800"/>
            <a:ext cx="6038850" cy="1943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153300" y="178725"/>
            <a:ext cx="8837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latin typeface="Calibri"/>
                <a:ea typeface="Calibri"/>
                <a:cs typeface="Calibri"/>
                <a:sym typeface="Calibri"/>
              </a:rPr>
              <a:t>Peak Disturbance Hours Reveal Stark Resource Disparities Across Detroit</a:t>
            </a:r>
            <a:endParaRPr sz="2320">
              <a:latin typeface="Calibri"/>
              <a:ea typeface="Calibri"/>
              <a:cs typeface="Calibri"/>
              <a:sym typeface="Calibri"/>
            </a:endParaRPr>
          </a:p>
        </p:txBody>
      </p:sp>
      <p:pic>
        <p:nvPicPr>
          <p:cNvPr id="98" name="Google Shape;98;p19" title=" Dashboard V2.png"/>
          <p:cNvPicPr preferRelativeResize="0"/>
          <p:nvPr/>
        </p:nvPicPr>
        <p:blipFill>
          <a:blip r:embed="rId3">
            <a:alphaModFix/>
          </a:blip>
          <a:stretch>
            <a:fillRect/>
          </a:stretch>
        </p:blipFill>
        <p:spPr>
          <a:xfrm>
            <a:off x="252912" y="751437"/>
            <a:ext cx="8638177" cy="4319089"/>
          </a:xfrm>
          <a:prstGeom prst="rect">
            <a:avLst/>
          </a:prstGeom>
          <a:noFill/>
          <a:ln>
            <a:noFill/>
          </a:ln>
        </p:spPr>
      </p:pic>
      <p:cxnSp>
        <p:nvCxnSpPr>
          <p:cNvPr id="99" name="Google Shape;99;p19"/>
          <p:cNvCxnSpPr/>
          <p:nvPr/>
        </p:nvCxnSpPr>
        <p:spPr>
          <a:xfrm>
            <a:off x="4569600" y="1052275"/>
            <a:ext cx="4800" cy="3945300"/>
          </a:xfrm>
          <a:prstGeom prst="straightConnector1">
            <a:avLst/>
          </a:prstGeom>
          <a:noFill/>
          <a:ln cap="flat" cmpd="sng" w="76200">
            <a:solidFill>
              <a:srgbClr val="1C4587"/>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pic>
        <p:nvPicPr>
          <p:cNvPr id="104" name="Google Shape;104;p20" title="Disturbance High RT ZipCode.png"/>
          <p:cNvPicPr preferRelativeResize="0"/>
          <p:nvPr/>
        </p:nvPicPr>
        <p:blipFill rotWithShape="1">
          <a:blip r:embed="rId3">
            <a:alphaModFix/>
          </a:blip>
          <a:srcRect b="6393" l="0" r="0" t="0"/>
          <a:stretch/>
        </p:blipFill>
        <p:spPr>
          <a:xfrm>
            <a:off x="888125" y="614100"/>
            <a:ext cx="7367752" cy="45293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 name="Shape 108"/>
        <p:cNvGrpSpPr/>
        <p:nvPr/>
      </p:nvGrpSpPr>
      <p:grpSpPr>
        <a:xfrm>
          <a:off x="0" y="0"/>
          <a:ext cx="0" cy="0"/>
          <a:chOff x="0" y="0"/>
          <a:chExt cx="0" cy="0"/>
        </a:xfrm>
      </p:grpSpPr>
      <p:pic>
        <p:nvPicPr>
          <p:cNvPr id="109" name="Google Shape;109;p21" title="Distrubance Low RT ZipCode.png"/>
          <p:cNvPicPr preferRelativeResize="0"/>
          <p:nvPr/>
        </p:nvPicPr>
        <p:blipFill rotWithShape="1">
          <a:blip r:embed="rId3">
            <a:alphaModFix/>
          </a:blip>
          <a:srcRect b="5571" l="0" r="0" t="0"/>
          <a:stretch/>
        </p:blipFill>
        <p:spPr>
          <a:xfrm>
            <a:off x="888125" y="574375"/>
            <a:ext cx="7367752" cy="4569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61250" y="491675"/>
            <a:ext cx="6234000" cy="60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latin typeface="Calibri"/>
                <a:ea typeface="Calibri"/>
                <a:cs typeface="Calibri"/>
                <a:sym typeface="Calibri"/>
              </a:rPr>
              <a:t>Our Recommendations  &amp; Takeaways</a:t>
            </a:r>
            <a:endParaRPr sz="2700">
              <a:latin typeface="Calibri"/>
              <a:ea typeface="Calibri"/>
              <a:cs typeface="Calibri"/>
              <a:sym typeface="Calibri"/>
            </a:endParaRPr>
          </a:p>
        </p:txBody>
      </p:sp>
      <p:sp>
        <p:nvSpPr>
          <p:cNvPr id="115" name="Google Shape;115;p22"/>
          <p:cNvSpPr txBox="1"/>
          <p:nvPr>
            <p:ph idx="1" type="body"/>
          </p:nvPr>
        </p:nvSpPr>
        <p:spPr>
          <a:xfrm>
            <a:off x="311700" y="1152475"/>
            <a:ext cx="722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alibri"/>
              <a:buChar char="●"/>
            </a:pPr>
            <a:r>
              <a:rPr lang="en">
                <a:latin typeface="Calibri"/>
                <a:ea typeface="Calibri"/>
                <a:cs typeface="Calibri"/>
                <a:sym typeface="Calibri"/>
              </a:rPr>
              <a:t>Take a hard look at staffing</a:t>
            </a:r>
            <a:r>
              <a:rPr lang="en">
                <a:latin typeface="Calibri"/>
                <a:ea typeface="Calibri"/>
                <a:cs typeface="Calibri"/>
                <a:sym typeface="Calibri"/>
              </a:rPr>
              <a:t> levels, in terms of both time of day and locations</a:t>
            </a:r>
            <a:endParaRPr>
              <a:latin typeface="Calibri"/>
              <a:ea typeface="Calibri"/>
              <a:cs typeface="Calibri"/>
              <a:sym typeface="Calibri"/>
            </a:endParaRPr>
          </a:p>
          <a:p>
            <a:pPr indent="-317500" lvl="1" marL="914400" rtl="0" algn="l">
              <a:spcBef>
                <a:spcPts val="0"/>
              </a:spcBef>
              <a:spcAft>
                <a:spcPts val="0"/>
              </a:spcAft>
              <a:buSzPts val="1400"/>
              <a:buFont typeface="Calibri"/>
              <a:buChar char="○"/>
            </a:pPr>
            <a:r>
              <a:rPr lang="en">
                <a:latin typeface="Calibri"/>
                <a:ea typeface="Calibri"/>
                <a:cs typeface="Calibri"/>
                <a:sym typeface="Calibri"/>
              </a:rPr>
              <a:t>All areas deserve same response times for the same crime categories</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Mayor review funding allocation</a:t>
            </a:r>
            <a:endParaRPr>
              <a:latin typeface="Calibri"/>
              <a:ea typeface="Calibri"/>
              <a:cs typeface="Calibri"/>
              <a:sym typeface="Calibri"/>
            </a:endParaRPr>
          </a:p>
          <a:p>
            <a:pPr indent="-317500" lvl="1" marL="914400" rtl="0" algn="l">
              <a:spcBef>
                <a:spcPts val="0"/>
              </a:spcBef>
              <a:spcAft>
                <a:spcPts val="0"/>
              </a:spcAft>
              <a:buSzPts val="1400"/>
              <a:buFont typeface="Calibri"/>
              <a:buChar char="○"/>
            </a:pPr>
            <a:r>
              <a:rPr lang="en">
                <a:latin typeface="Calibri"/>
                <a:ea typeface="Calibri"/>
                <a:cs typeface="Calibri"/>
                <a:sym typeface="Calibri"/>
              </a:rPr>
              <a:t>Slow response times could be due to lack of resources in certain zip codes→Low prioritization </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We need to address how priority levels are assigned and treated</a:t>
            </a:r>
            <a:endParaRPr>
              <a:latin typeface="Calibri"/>
              <a:ea typeface="Calibri"/>
              <a:cs typeface="Calibri"/>
              <a:sym typeface="Calibri"/>
            </a:endParaRPr>
          </a:p>
          <a:p>
            <a:pPr indent="-317500" lvl="1" marL="914400" rtl="0" algn="l">
              <a:spcBef>
                <a:spcPts val="0"/>
              </a:spcBef>
              <a:spcAft>
                <a:spcPts val="0"/>
              </a:spcAft>
              <a:buSzPts val="1400"/>
              <a:buFont typeface="Calibri"/>
              <a:buChar char="○"/>
            </a:pPr>
            <a:r>
              <a:rPr lang="en">
                <a:latin typeface="Calibri"/>
                <a:ea typeface="Calibri"/>
                <a:cs typeface="Calibri"/>
                <a:sym typeface="Calibri"/>
              </a:rPr>
              <a:t>Better staff training for a more systematic approach throughout departments</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alibri"/>
                <a:ea typeface="Calibri"/>
                <a:cs typeface="Calibri"/>
                <a:sym typeface="Calibri"/>
              </a:rPr>
              <a:t>Limitations of study &amp; next steps  </a:t>
            </a:r>
            <a:endParaRPr>
              <a:latin typeface="Calibri"/>
              <a:ea typeface="Calibri"/>
              <a:cs typeface="Calibri"/>
              <a:sym typeface="Calibri"/>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alibri"/>
              <a:buChar char="●"/>
            </a:pPr>
            <a:r>
              <a:rPr lang="en">
                <a:latin typeface="Calibri"/>
                <a:ea typeface="Calibri"/>
                <a:cs typeface="Calibri"/>
                <a:sym typeface="Calibri"/>
              </a:rPr>
              <a:t>Conduct the similar trend with the next highest call description category of Unknown Problem</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Important to note from our results is to see the magnitude of Unknown problem calls that are at priority 2 accompany disturbances→ more uncertainty and higher demand on police resources</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To elaborate on our results, we can look into the house values and see whether neighborhoods with lower house values are facing more issues</a:t>
            </a:r>
            <a:endParaRPr>
              <a:latin typeface="Calibri"/>
              <a:ea typeface="Calibri"/>
              <a:cs typeface="Calibri"/>
              <a:sym typeface="Calibri"/>
            </a:endParaRPr>
          </a:p>
          <a:p>
            <a:pPr indent="-342900" lvl="0" marL="457200" rtl="0" algn="l">
              <a:spcBef>
                <a:spcPts val="0"/>
              </a:spcBef>
              <a:spcAft>
                <a:spcPts val="0"/>
              </a:spcAft>
              <a:buSzPts val="1800"/>
              <a:buFont typeface="Calibri"/>
              <a:buChar char="●"/>
            </a:pPr>
            <a:r>
              <a:rPr lang="en">
                <a:latin typeface="Calibri"/>
                <a:ea typeface="Calibri"/>
                <a:cs typeface="Calibri"/>
                <a:sym typeface="Calibri"/>
              </a:rPr>
              <a:t> Can model how response times could improve if staffing or resource allocation shifted toward the highest-demand Zip Codes</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alibri"/>
                <a:ea typeface="Calibri"/>
                <a:cs typeface="Calibri"/>
                <a:sym typeface="Calibri"/>
              </a:rPr>
              <a:t>Takeaways</a:t>
            </a:r>
            <a:endParaRPr>
              <a:latin typeface="Calibri"/>
              <a:ea typeface="Calibri"/>
              <a:cs typeface="Calibri"/>
              <a:sym typeface="Calibri"/>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alibri"/>
              <a:buChar char="●"/>
            </a:pPr>
            <a:r>
              <a:rPr b="1" lang="en">
                <a:latin typeface="Calibri"/>
                <a:ea typeface="Calibri"/>
                <a:cs typeface="Calibri"/>
                <a:sym typeface="Calibri"/>
              </a:rPr>
              <a:t>Call Volume Drives Response Time</a:t>
            </a:r>
            <a:endParaRPr b="1">
              <a:latin typeface="Calibri"/>
              <a:ea typeface="Calibri"/>
              <a:cs typeface="Calibri"/>
              <a:sym typeface="Calibri"/>
            </a:endParaRPr>
          </a:p>
          <a:p>
            <a:pPr indent="-317500" lvl="1" marL="914400" rtl="0" algn="l">
              <a:spcBef>
                <a:spcPts val="0"/>
              </a:spcBef>
              <a:spcAft>
                <a:spcPts val="0"/>
              </a:spcAft>
              <a:buSzPts val="1400"/>
              <a:buFont typeface="Calibri"/>
              <a:buChar char="○"/>
            </a:pPr>
            <a:r>
              <a:rPr b="1" lang="en">
                <a:latin typeface="Calibri"/>
                <a:ea typeface="Calibri"/>
                <a:cs typeface="Calibri"/>
                <a:sym typeface="Calibri"/>
              </a:rPr>
              <a:t> </a:t>
            </a:r>
            <a:r>
              <a:rPr lang="en">
                <a:latin typeface="Calibri"/>
                <a:ea typeface="Calibri"/>
                <a:cs typeface="Calibri"/>
                <a:sym typeface="Calibri"/>
              </a:rPr>
              <a:t>ZIP codes with the highest call demand also face the fastest average response times</a:t>
            </a:r>
            <a:endParaRPr b="1">
              <a:latin typeface="Calibri"/>
              <a:ea typeface="Calibri"/>
              <a:cs typeface="Calibri"/>
              <a:sym typeface="Calibri"/>
            </a:endParaRPr>
          </a:p>
          <a:p>
            <a:pPr indent="-342900" lvl="0" marL="457200" rtl="0" algn="l">
              <a:spcBef>
                <a:spcPts val="0"/>
              </a:spcBef>
              <a:spcAft>
                <a:spcPts val="0"/>
              </a:spcAft>
              <a:buSzPts val="1800"/>
              <a:buFont typeface="Calibri"/>
              <a:buChar char="●"/>
            </a:pPr>
            <a:r>
              <a:rPr b="1" lang="en">
                <a:latin typeface="Calibri"/>
                <a:ea typeface="Calibri"/>
                <a:cs typeface="Calibri"/>
                <a:sym typeface="Calibri"/>
              </a:rPr>
              <a:t>Resource allocation gap</a:t>
            </a:r>
            <a:endParaRPr b="1">
              <a:latin typeface="Calibri"/>
              <a:ea typeface="Calibri"/>
              <a:cs typeface="Calibri"/>
              <a:sym typeface="Calibri"/>
            </a:endParaRPr>
          </a:p>
          <a:p>
            <a:pPr indent="-317500" lvl="1" marL="914400" rtl="0" algn="l">
              <a:spcBef>
                <a:spcPts val="0"/>
              </a:spcBef>
              <a:spcAft>
                <a:spcPts val="0"/>
              </a:spcAft>
              <a:buSzPts val="1400"/>
              <a:buFont typeface="Calibri"/>
              <a:buChar char="○"/>
            </a:pPr>
            <a:r>
              <a:rPr lang="en">
                <a:latin typeface="Calibri"/>
                <a:ea typeface="Calibri"/>
                <a:cs typeface="Calibri"/>
                <a:sym typeface="Calibri"/>
              </a:rPr>
              <a:t>The contrast in response time observed suggests that police resources may be spread thin or redeployed differently at night in higher-demand neighborhoods</a:t>
            </a:r>
            <a:endParaRPr b="1">
              <a:latin typeface="Calibri"/>
              <a:ea typeface="Calibri"/>
              <a:cs typeface="Calibri"/>
              <a:sym typeface="Calibri"/>
            </a:endParaRPr>
          </a:p>
          <a:p>
            <a:pPr indent="-342900" lvl="0" marL="457200" rtl="0" algn="l">
              <a:spcBef>
                <a:spcPts val="0"/>
              </a:spcBef>
              <a:spcAft>
                <a:spcPts val="0"/>
              </a:spcAft>
              <a:buSzPts val="1800"/>
              <a:buFont typeface="Calibri"/>
              <a:buChar char="●"/>
            </a:pPr>
            <a:r>
              <a:rPr b="1" lang="en">
                <a:latin typeface="Calibri"/>
                <a:ea typeface="Calibri"/>
                <a:cs typeface="Calibri"/>
                <a:sym typeface="Calibri"/>
              </a:rPr>
              <a:t>Policy/operational implication</a:t>
            </a:r>
            <a:endParaRPr b="1">
              <a:latin typeface="Calibri"/>
              <a:ea typeface="Calibri"/>
              <a:cs typeface="Calibri"/>
              <a:sym typeface="Calibri"/>
            </a:endParaRPr>
          </a:p>
          <a:p>
            <a:pPr indent="-317500" lvl="1" marL="914400" rtl="0" algn="l">
              <a:spcBef>
                <a:spcPts val="0"/>
              </a:spcBef>
              <a:spcAft>
                <a:spcPts val="0"/>
              </a:spcAft>
              <a:buSzPts val="1400"/>
              <a:buFont typeface="Calibri"/>
              <a:buChar char="○"/>
            </a:pPr>
            <a:r>
              <a:rPr lang="en">
                <a:latin typeface="Calibri"/>
                <a:ea typeface="Calibri"/>
                <a:cs typeface="Calibri"/>
                <a:sym typeface="Calibri"/>
              </a:rPr>
              <a:t>Addressing those late-night delays in high-call Zip Codes could be a priority intervention area, whether through staffing shifts, redeployment, or community prevention strategies</a:t>
            </a: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Snoopy Thank You GIFs | Tenor" id="132" name="Google Shape;132;p25"/>
          <p:cNvPicPr preferRelativeResize="0"/>
          <p:nvPr/>
        </p:nvPicPr>
        <p:blipFill>
          <a:blip r:embed="rId3">
            <a:alphaModFix/>
          </a:blip>
          <a:stretch>
            <a:fillRect/>
          </a:stretch>
        </p:blipFill>
        <p:spPr>
          <a:xfrm>
            <a:off x="5916250" y="1224350"/>
            <a:ext cx="2694800" cy="2694800"/>
          </a:xfrm>
          <a:prstGeom prst="rect">
            <a:avLst/>
          </a:prstGeom>
          <a:noFill/>
          <a:ln>
            <a:noFill/>
          </a:ln>
        </p:spPr>
      </p:pic>
      <p:sp>
        <p:nvSpPr>
          <p:cNvPr id="133" name="Google Shape;133;p25"/>
          <p:cNvSpPr txBox="1"/>
          <p:nvPr/>
        </p:nvSpPr>
        <p:spPr>
          <a:xfrm>
            <a:off x="758400" y="2074950"/>
            <a:ext cx="3813600" cy="9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400">
                <a:solidFill>
                  <a:schemeClr val="dk2"/>
                </a:solidFill>
              </a:rPr>
              <a:t>Questions?</a:t>
            </a:r>
            <a:endParaRPr sz="5400">
              <a:solidFill>
                <a:schemeClr val="dk2"/>
              </a:solidFill>
            </a:endParaRPr>
          </a:p>
        </p:txBody>
      </p:sp>
      <p:pic>
        <p:nvPicPr>
          <p:cNvPr descr="Any Questions GIFs | GIFDB.com" id="134" name="Google Shape;134;p25"/>
          <p:cNvPicPr preferRelativeResize="0"/>
          <p:nvPr/>
        </p:nvPicPr>
        <p:blipFill>
          <a:blip r:embed="rId4">
            <a:alphaModFix/>
          </a:blip>
          <a:stretch>
            <a:fillRect/>
          </a:stretch>
        </p:blipFill>
        <p:spPr>
          <a:xfrm>
            <a:off x="0" y="0"/>
            <a:ext cx="9144000" cy="51655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0" name="Google Shape;14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noopy Thank You GIFs | Tenor" id="141" name="Google Shape;141;p26"/>
          <p:cNvPicPr preferRelativeResize="0"/>
          <p:nvPr/>
        </p:nvPicPr>
        <p:blipFill>
          <a:blip r:embed="rId3">
            <a:alphaModFix/>
          </a:blip>
          <a:stretch>
            <a:fillRect/>
          </a:stretch>
        </p:blipFill>
        <p:spPr>
          <a:xfrm>
            <a:off x="3224600" y="1224350"/>
            <a:ext cx="2694800" cy="2694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